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487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45720"/>
            <a:ext cx="3474720" cy="347472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06B6D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 rot="10247339">
            <a:off x="45720" y="4754880"/>
            <a:ext cx="1920240" cy="192024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58952" y="726948"/>
            <a:ext cx="1481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Deep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Detection of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Cyberbullying and Toxic Behavior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4944" y="29992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Week 1–4 final presentation with results and Streamlit application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485546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4434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383280" y="4855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41264" y="44348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541264" y="48554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1417320"/>
            <a:ext cx="2834640" cy="320040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882396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comment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“You are awful...”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66960" y="2807208"/>
            <a:ext cx="0" cy="54864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82396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Predicted labels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23960" y="404164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8897112" y="411022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toxic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646920" y="4041648"/>
            <a:ext cx="768096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9720072" y="4110228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insult</a:t>
            </a:r>
            <a:endParaRPr lang="en-US" sz="8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F6A270-FDBD-9A0A-6D21-B1CB3C49B986}"/>
              </a:ext>
            </a:extLst>
          </p:cNvPr>
          <p:cNvSpPr txBox="1"/>
          <p:nvPr/>
        </p:nvSpPr>
        <p:spPr>
          <a:xfrm>
            <a:off x="877824" y="4617720"/>
            <a:ext cx="328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KZ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4F97E4-46B0-BA88-7F84-F213FF4D00AD}"/>
              </a:ext>
            </a:extLst>
          </p:cNvPr>
          <p:cNvSpPr txBox="1"/>
          <p:nvPr/>
        </p:nvSpPr>
        <p:spPr>
          <a:xfrm>
            <a:off x="611632" y="4467844"/>
            <a:ext cx="382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Student: </a:t>
            </a:r>
            <a:r>
              <a:rPr lang="en-US" dirty="0" err="1">
                <a:solidFill>
                  <a:schemeClr val="bg1"/>
                </a:solidFill>
              </a:rPr>
              <a:t>Nagashybai</a:t>
            </a:r>
            <a:r>
              <a:rPr lang="en-US" dirty="0">
                <a:solidFill>
                  <a:schemeClr val="bg1"/>
                </a:solidFill>
              </a:rPr>
              <a:t> Almat</a:t>
            </a:r>
            <a:endParaRPr lang="ru-KZ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Task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Jigsaw toxic comment classification dataset from Hugging Face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266444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159,571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04672" y="19293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319272" y="15087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319272" y="19293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text column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468112" y="150876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6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68112" y="19293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target labels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2360" y="132588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7616952" y="15087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Multi-label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616952" y="19293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task type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2788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Target labels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3232" y="3246120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toxic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2316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harmful, rude, or disrespectful comment.</a:t>
            </a:r>
          </a:p>
        </p:txBody>
      </p:sp>
      <p:sp>
        <p:nvSpPr>
          <p:cNvPr id="22" name="Shape 20"/>
          <p:cNvSpPr/>
          <p:nvPr/>
        </p:nvSpPr>
        <p:spPr>
          <a:xfrm>
            <a:off x="713232" y="3685032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914400" y="37764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severe_toxic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37764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extremely abusive or highly aggressive comment.</a:t>
            </a:r>
            <a:br>
              <a:rPr lang="en-US" sz="1050" dirty="0"/>
            </a:b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4123944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914400" y="42153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obscene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23160" y="42153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comment with vulgar, inappropriate, or offensive language.</a:t>
            </a:r>
            <a:br>
              <a:rPr lang="en-US" sz="1050" dirty="0"/>
            </a:b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4562856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914400" y="46542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threat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23160" y="46542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comment that expresses harm, intimidation, or danger.</a:t>
            </a:r>
          </a:p>
        </p:txBody>
      </p:sp>
      <p:sp>
        <p:nvSpPr>
          <p:cNvPr id="31" name="Shape 29"/>
          <p:cNvSpPr/>
          <p:nvPr/>
        </p:nvSpPr>
        <p:spPr>
          <a:xfrm>
            <a:off x="713232" y="5001768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914400" y="5093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insult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23160" y="50932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comment that mocks, humiliates, or attacks another person.</a:t>
            </a:r>
          </a:p>
        </p:txBody>
      </p:sp>
      <p:sp>
        <p:nvSpPr>
          <p:cNvPr id="34" name="Shape 32"/>
          <p:cNvSpPr/>
          <p:nvPr/>
        </p:nvSpPr>
        <p:spPr>
          <a:xfrm>
            <a:off x="713232" y="5440680"/>
            <a:ext cx="480060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914400" y="55321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identity_hate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23160" y="55321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— hate speech targeting a person or group based on identity.</a:t>
            </a:r>
          </a:p>
        </p:txBody>
      </p:sp>
      <p:sp>
        <p:nvSpPr>
          <p:cNvPr id="37" name="Text 35"/>
          <p:cNvSpPr/>
          <p:nvPr/>
        </p:nvSpPr>
        <p:spPr>
          <a:xfrm>
            <a:off x="64008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multi-label?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2912364"/>
            <a:ext cx="503224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93B"/>
                </a:solidFill>
              </a:rPr>
              <a:t>One comment can belong to several categories at the same time.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Example: a comment can be both toxic and insulting.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This makes the task harder than simple binary classification.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92240" y="5166360"/>
            <a:ext cx="4297680" cy="786384"/>
          </a:xfrm>
          <a:prstGeom prst="roundRect">
            <a:avLst>
              <a:gd name="adj" fmla="val 9302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6720840" y="5394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Main challenge: some toxic categories appear less often, so the model has difficulty learning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— Exploratory Data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Understanding dataset structure, missing values, and label distribution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" y="10241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352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Key outputs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35240" y="150876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7799832" y="16916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  <a:endParaRPr lang="en-US" sz="2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799832" y="211226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missing values in main columns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274320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7799832" y="29260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toxic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799832" y="334670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most frequent label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397764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7799832" y="416052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threat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799832" y="45811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least frequent label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0352" y="4520187"/>
            <a:ext cx="6220862" cy="2147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Week 1 focused on understanding the dataset before model training.</a:t>
            </a:r>
            <a:br>
              <a:rPr lang="en-US" sz="1400" dirty="0"/>
            </a:br>
            <a:r>
              <a:rPr lang="en-US" sz="1400" dirty="0"/>
              <a:t>We checked missing values, dataset size, and label distribution.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The dataset has no missing values in the main columns.</a:t>
            </a:r>
            <a:br>
              <a:rPr lang="en-US" sz="1400" dirty="0"/>
            </a:br>
            <a:r>
              <a:rPr lang="en-US" sz="1400" dirty="0"/>
              <a:t>The most frequent label is toxic, while the least frequent label is threat.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The chart shows that the dataset is imbalanced.</a:t>
            </a:r>
            <a:br>
              <a:rPr lang="en-US" sz="1400" dirty="0"/>
            </a:br>
            <a:r>
              <a:rPr lang="en-US" sz="1400" dirty="0"/>
              <a:t>Some categories appear much more often than others, which makes rare labels harder to predict.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F1334C-6305-2B0B-92FC-3232004EE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042417"/>
            <a:ext cx="5119838" cy="334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2 — Preprocessing &amp; Baseline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Clean text data and build the first machine learning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00784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Raw comment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21992" y="205740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2697480" y="1700784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78892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Clean 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87952" y="205740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663440" y="1700784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75488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TF-IDF vectorizer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82512" y="205740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6858000" y="1700784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94944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Naive Bayes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31352" y="205740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9006840" y="1700784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909828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Metrics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2971800"/>
            <a:ext cx="2286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Validation results</a:t>
            </a:r>
            <a:r>
              <a:rPr lang="kk-KZ" sz="3000" b="1" dirty="0">
                <a:solidFill>
                  <a:srgbClr val="0F172A"/>
                </a:solidFill>
              </a:rPr>
              <a:t> -</a:t>
            </a:r>
            <a:r>
              <a:rPr lang="en-US" sz="3000" b="1" dirty="0">
                <a:solidFill>
                  <a:srgbClr val="0F172A"/>
                </a:solidFill>
              </a:rPr>
              <a:t>--</a:t>
            </a:r>
            <a:r>
              <a:rPr lang="en-US" sz="2500" b="1" dirty="0">
                <a:solidFill>
                  <a:srgbClr val="0F172A"/>
                </a:solidFill>
              </a:rPr>
              <a:t>&gt;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8074152" y="356616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dirty="0">
              <a:highlight>
                <a:srgbClr val="C0C0C0"/>
              </a:highlight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74152" y="39867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074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5440680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3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FC202C3-DD90-B322-8613-D6CC28C8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308" y="2757454"/>
            <a:ext cx="6508132" cy="23580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3B2B347-7E65-8520-6F6B-305376374363}"/>
              </a:ext>
            </a:extLst>
          </p:cNvPr>
          <p:cNvSpPr txBox="1"/>
          <p:nvPr/>
        </p:nvSpPr>
        <p:spPr>
          <a:xfrm>
            <a:off x="749808" y="5432417"/>
            <a:ext cx="102006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baseline model was fast and achieved strong ROC-AUC.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However, recall was low because the dataset is imbalanced and rare toxic labels are harder to detect.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This model gave us a clear starting point for comparison with the LSTM deep learning model.</a:t>
            </a:r>
            <a:endParaRPr lang="ru-KZ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 — LSTM Deep Learning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Learning word sequence patterns with PyTorch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Toxic Comment Classification  •  Week 1–4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Model architecture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481328"/>
            <a:ext cx="1234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941832" y="17007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Embedding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58568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2697480" y="1481328"/>
            <a:ext cx="1234440" cy="6858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770632" y="17007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LSTM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87368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526280" y="1481328"/>
            <a:ext cx="1234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599432" y="17007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Linear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16168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6355080" y="1481328"/>
            <a:ext cx="1234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428232" y="170078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Sigmoid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66024" y="1119631"/>
            <a:ext cx="3481832" cy="102411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Training loss decreased, and validation loss also decreased. This shows that the model learned useful patterns and generalized better on validation data.</a:t>
            </a:r>
            <a:endParaRPr lang="en-US" sz="15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4EEC1CF-C569-81B9-D7EA-299531771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2" y="2388489"/>
            <a:ext cx="5059680" cy="339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5F52FBE-D65E-FF12-8D9D-3738E9D3D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60" y="2446440"/>
            <a:ext cx="2440664" cy="407837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B510BD8-CAB3-C061-5427-9B861624F29D}"/>
              </a:ext>
            </a:extLst>
          </p:cNvPr>
          <p:cNvSpPr txBox="1"/>
          <p:nvPr/>
        </p:nvSpPr>
        <p:spPr>
          <a:xfrm>
            <a:off x="8351752" y="2631440"/>
            <a:ext cx="33068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Week 3, we implemented an LSTM model in </a:t>
            </a:r>
            <a:r>
              <a:rPr lang="en-US" sz="1400" dirty="0" err="1"/>
              <a:t>PyTorch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We converted comments into word sequences, created </a:t>
            </a:r>
            <a:r>
              <a:rPr lang="en-US" sz="1400" dirty="0" err="1"/>
              <a:t>DataLoader</a:t>
            </a:r>
            <a:r>
              <a:rPr lang="en-US" sz="1400" dirty="0"/>
              <a:t>, and trained the model for 5 epochs.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The model architecture included Embedding, LSTM, Linear, and Sigmoid layers.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Both train loss and validation loss decreased, showing that the model learned useful text patterns.</a:t>
            </a:r>
            <a:endParaRPr lang="ru-KZ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4 — Comparison &amp; 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Final experiments and model selection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Toxic Comment Classification  •  Week 1–4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224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Model comparison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1325880" cy="41148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6519672" y="171907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F172A"/>
                </a:solidFill>
              </a:rPr>
              <a:t>Model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818120" y="1600200"/>
            <a:ext cx="822960" cy="41148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845552" y="171907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F172A"/>
                </a:solidFill>
              </a:rPr>
              <a:t>ROC-AUC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8641080" y="1600200"/>
            <a:ext cx="914400" cy="41148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8668512" y="171907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F172A"/>
                </a:solidFill>
              </a:rPr>
              <a:t>Precision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9555480" y="1600200"/>
            <a:ext cx="777240" cy="41148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9582912" y="1719072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F172A"/>
                </a:solidFill>
              </a:rPr>
              <a:t>Recall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10332720" y="1600200"/>
            <a:ext cx="685800" cy="41148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10360152" y="171907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F172A"/>
                </a:solidFill>
              </a:rPr>
              <a:t>F1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492240" y="2011680"/>
            <a:ext cx="13258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6519672" y="21305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TF-IDF + NB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818120" y="2011680"/>
            <a:ext cx="8229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7845552" y="213055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0.8815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8641080" y="2011680"/>
            <a:ext cx="914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8668512" y="213055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0.4957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9555480" y="2011680"/>
            <a:ext cx="7772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9582912" y="2130552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0.0651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10332720" y="2011680"/>
            <a:ext cx="6858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10360152" y="213055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0.1136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6492240" y="2423160"/>
            <a:ext cx="13258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6519672" y="254203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LSTM + tuning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7818120" y="2423160"/>
            <a:ext cx="8229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7845552" y="2542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0.5667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8641080" y="2423160"/>
            <a:ext cx="914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8668512" y="254203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0.5833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9555480" y="2423160"/>
            <a:ext cx="7772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9582912" y="2542032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0.0181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10332720" y="2423160"/>
            <a:ext cx="6858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10360152" y="25420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E293B"/>
                </a:solidFill>
              </a:rPr>
              <a:t>0.0342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6492240" y="3429000"/>
            <a:ext cx="4526280" cy="128016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6720840" y="3675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Final observation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720840" y="3977640"/>
            <a:ext cx="4069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Higher precision means fewer false alarms, but lower recall means the model still misses many toxic comments. Class imbalance remains the main limitation.</a:t>
            </a:r>
            <a:endParaRPr lang="en-US" sz="12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E7F93D-10BE-5FDC-6321-3A6802C2D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65" y="1097280"/>
            <a:ext cx="5226770" cy="355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733FD2C-92FE-7CA0-0AA3-89CE05D4A734}"/>
              </a:ext>
            </a:extLst>
          </p:cNvPr>
          <p:cNvSpPr txBox="1"/>
          <p:nvPr/>
        </p:nvSpPr>
        <p:spPr>
          <a:xfrm>
            <a:off x="485965" y="4782312"/>
            <a:ext cx="100380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sz="1300" dirty="0"/>
              <a:t>Week 4 </a:t>
            </a:r>
            <a:r>
              <a:rPr lang="ru-KZ" sz="1300" dirty="0" err="1"/>
              <a:t>focused</a:t>
            </a:r>
            <a:r>
              <a:rPr lang="ru-KZ" sz="1300" dirty="0"/>
              <a:t> </a:t>
            </a:r>
            <a:r>
              <a:rPr lang="ru-KZ" sz="1300" dirty="0" err="1"/>
              <a:t>on</a:t>
            </a:r>
            <a:r>
              <a:rPr lang="ru-KZ" sz="1300" dirty="0"/>
              <a:t> </a:t>
            </a:r>
            <a:r>
              <a:rPr lang="ru-KZ" sz="1300" dirty="0" err="1"/>
              <a:t>final</a:t>
            </a:r>
            <a:r>
              <a:rPr lang="ru-KZ" sz="1300" dirty="0"/>
              <a:t> </a:t>
            </a:r>
            <a:r>
              <a:rPr lang="ru-KZ" sz="1300" dirty="0" err="1"/>
              <a:t>model</a:t>
            </a:r>
            <a:r>
              <a:rPr lang="ru-KZ" sz="1300" dirty="0"/>
              <a:t> </a:t>
            </a:r>
            <a:r>
              <a:rPr lang="ru-KZ" sz="1300" dirty="0" err="1"/>
              <a:t>comparison</a:t>
            </a:r>
            <a:r>
              <a:rPr lang="ru-KZ" sz="1300" dirty="0"/>
              <a:t> </a:t>
            </a:r>
            <a:r>
              <a:rPr lang="ru-KZ" sz="1300" dirty="0" err="1"/>
              <a:t>and</a:t>
            </a:r>
            <a:r>
              <a:rPr lang="ru-KZ" sz="1300" dirty="0"/>
              <a:t> </a:t>
            </a:r>
            <a:r>
              <a:rPr lang="ru-KZ" sz="1300" dirty="0" err="1"/>
              <a:t>threshold</a:t>
            </a:r>
            <a:r>
              <a:rPr lang="ru-KZ" sz="1300" dirty="0"/>
              <a:t> </a:t>
            </a:r>
            <a:r>
              <a:rPr lang="ru-KZ" sz="1300" dirty="0" err="1"/>
              <a:t>tuning</a:t>
            </a:r>
            <a:r>
              <a:rPr lang="ru-KZ" sz="1300" dirty="0"/>
              <a:t>.</a:t>
            </a:r>
          </a:p>
          <a:p>
            <a:endParaRPr lang="ru-KZ" sz="1300" dirty="0"/>
          </a:p>
          <a:p>
            <a:r>
              <a:rPr lang="ru-KZ" sz="1300" dirty="0"/>
              <a:t>We </a:t>
            </a:r>
            <a:r>
              <a:rPr lang="ru-KZ" sz="1300" dirty="0" err="1"/>
              <a:t>tested</a:t>
            </a:r>
            <a:r>
              <a:rPr lang="ru-KZ" sz="1300" dirty="0"/>
              <a:t> </a:t>
            </a:r>
            <a:r>
              <a:rPr lang="ru-KZ" sz="1300" dirty="0" err="1"/>
              <a:t>several</a:t>
            </a:r>
            <a:r>
              <a:rPr lang="ru-KZ" sz="1300" dirty="0"/>
              <a:t> </a:t>
            </a:r>
            <a:r>
              <a:rPr lang="ru-KZ" sz="1300" dirty="0" err="1"/>
              <a:t>threshold</a:t>
            </a:r>
            <a:r>
              <a:rPr lang="ru-KZ" sz="1300" dirty="0"/>
              <a:t> </a:t>
            </a:r>
            <a:r>
              <a:rPr lang="ru-KZ" sz="1300" dirty="0" err="1"/>
              <a:t>values</a:t>
            </a:r>
            <a:r>
              <a:rPr lang="ru-KZ" sz="1300" dirty="0"/>
              <a:t> </a:t>
            </a:r>
            <a:r>
              <a:rPr lang="ru-KZ" sz="1300" dirty="0" err="1"/>
              <a:t>to</a:t>
            </a:r>
            <a:r>
              <a:rPr lang="ru-KZ" sz="1300" dirty="0"/>
              <a:t> </a:t>
            </a:r>
            <a:r>
              <a:rPr lang="ru-KZ" sz="1300" dirty="0" err="1"/>
              <a:t>control</a:t>
            </a:r>
            <a:r>
              <a:rPr lang="ru-KZ" sz="1300" dirty="0"/>
              <a:t> </a:t>
            </a:r>
            <a:r>
              <a:rPr lang="ru-KZ" sz="1300" dirty="0" err="1"/>
              <a:t>the</a:t>
            </a:r>
            <a:r>
              <a:rPr lang="ru-KZ" sz="1300" dirty="0"/>
              <a:t> </a:t>
            </a:r>
            <a:r>
              <a:rPr lang="ru-KZ" sz="1300" dirty="0" err="1"/>
              <a:t>balance</a:t>
            </a:r>
            <a:r>
              <a:rPr lang="ru-KZ" sz="1300" dirty="0"/>
              <a:t> </a:t>
            </a:r>
            <a:r>
              <a:rPr lang="ru-KZ" sz="1300" dirty="0" err="1"/>
              <a:t>between</a:t>
            </a:r>
            <a:r>
              <a:rPr lang="ru-KZ" sz="1300" dirty="0"/>
              <a:t> </a:t>
            </a:r>
            <a:r>
              <a:rPr lang="ru-KZ" sz="1300" dirty="0" err="1"/>
              <a:t>precision</a:t>
            </a:r>
            <a:r>
              <a:rPr lang="ru-KZ" sz="1300" dirty="0"/>
              <a:t> </a:t>
            </a:r>
            <a:r>
              <a:rPr lang="ru-KZ" sz="1300" dirty="0" err="1"/>
              <a:t>and</a:t>
            </a:r>
            <a:r>
              <a:rPr lang="ru-KZ" sz="1300" dirty="0"/>
              <a:t> </a:t>
            </a:r>
            <a:r>
              <a:rPr lang="ru-KZ" sz="1300" dirty="0" err="1"/>
              <a:t>recall</a:t>
            </a:r>
            <a:r>
              <a:rPr lang="ru-KZ" sz="1300" dirty="0"/>
              <a:t>.</a:t>
            </a:r>
          </a:p>
          <a:p>
            <a:endParaRPr lang="ru-KZ" sz="1300" dirty="0"/>
          </a:p>
          <a:p>
            <a:r>
              <a:rPr lang="ru-KZ" sz="1300" dirty="0" err="1"/>
              <a:t>Higher</a:t>
            </a:r>
            <a:r>
              <a:rPr lang="ru-KZ" sz="1300" dirty="0"/>
              <a:t> </a:t>
            </a:r>
            <a:r>
              <a:rPr lang="ru-KZ" sz="1300" dirty="0" err="1"/>
              <a:t>threshold</a:t>
            </a:r>
            <a:r>
              <a:rPr lang="ru-KZ" sz="1300" dirty="0"/>
              <a:t> </a:t>
            </a:r>
            <a:r>
              <a:rPr lang="ru-KZ" sz="1300" dirty="0" err="1"/>
              <a:t>increased</a:t>
            </a:r>
            <a:r>
              <a:rPr lang="ru-KZ" sz="1300" dirty="0"/>
              <a:t> </a:t>
            </a:r>
            <a:r>
              <a:rPr lang="ru-KZ" sz="1300" dirty="0" err="1"/>
              <a:t>precision</a:t>
            </a:r>
            <a:r>
              <a:rPr lang="ru-KZ" sz="1300" dirty="0"/>
              <a:t>, </a:t>
            </a:r>
            <a:r>
              <a:rPr lang="ru-KZ" sz="1300" dirty="0" err="1"/>
              <a:t>meaning</a:t>
            </a:r>
            <a:r>
              <a:rPr lang="ru-KZ" sz="1300" dirty="0"/>
              <a:t> </a:t>
            </a:r>
            <a:r>
              <a:rPr lang="ru-KZ" sz="1300" dirty="0" err="1"/>
              <a:t>fewer</a:t>
            </a:r>
            <a:r>
              <a:rPr lang="ru-KZ" sz="1300" dirty="0"/>
              <a:t> </a:t>
            </a:r>
            <a:r>
              <a:rPr lang="ru-KZ" sz="1300" dirty="0" err="1"/>
              <a:t>false</a:t>
            </a:r>
            <a:r>
              <a:rPr lang="ru-KZ" sz="1300" dirty="0"/>
              <a:t> </a:t>
            </a:r>
            <a:r>
              <a:rPr lang="ru-KZ" sz="1300" dirty="0" err="1"/>
              <a:t>alarms</a:t>
            </a:r>
            <a:r>
              <a:rPr lang="ru-KZ" sz="1300" dirty="0"/>
              <a:t>.</a:t>
            </a:r>
          </a:p>
          <a:p>
            <a:endParaRPr lang="ru-KZ" sz="1300" dirty="0"/>
          </a:p>
          <a:p>
            <a:r>
              <a:rPr lang="ru-KZ" sz="1300" dirty="0" err="1"/>
              <a:t>However</a:t>
            </a:r>
            <a:r>
              <a:rPr lang="ru-KZ" sz="1300" dirty="0"/>
              <a:t>, </a:t>
            </a:r>
            <a:r>
              <a:rPr lang="ru-KZ" sz="1300" dirty="0" err="1"/>
              <a:t>recall</a:t>
            </a:r>
            <a:r>
              <a:rPr lang="ru-KZ" sz="1300" dirty="0"/>
              <a:t> </a:t>
            </a:r>
            <a:r>
              <a:rPr lang="ru-KZ" sz="1300" dirty="0" err="1"/>
              <a:t>stayed</a:t>
            </a:r>
            <a:r>
              <a:rPr lang="ru-KZ" sz="1300" dirty="0"/>
              <a:t> </a:t>
            </a:r>
            <a:r>
              <a:rPr lang="ru-KZ" sz="1300" dirty="0" err="1"/>
              <a:t>low</a:t>
            </a:r>
            <a:r>
              <a:rPr lang="ru-KZ" sz="1300" dirty="0"/>
              <a:t>, </a:t>
            </a:r>
            <a:r>
              <a:rPr lang="ru-KZ" sz="1300" dirty="0" err="1"/>
              <a:t>so</a:t>
            </a:r>
            <a:r>
              <a:rPr lang="ru-KZ" sz="1300" dirty="0"/>
              <a:t> </a:t>
            </a:r>
            <a:r>
              <a:rPr lang="ru-KZ" sz="1300" dirty="0" err="1"/>
              <a:t>the</a:t>
            </a:r>
            <a:r>
              <a:rPr lang="ru-KZ" sz="1300" dirty="0"/>
              <a:t> </a:t>
            </a:r>
            <a:r>
              <a:rPr lang="ru-KZ" sz="1300" dirty="0" err="1"/>
              <a:t>model</a:t>
            </a:r>
            <a:r>
              <a:rPr lang="ru-KZ" sz="1300" dirty="0"/>
              <a:t> </a:t>
            </a:r>
            <a:r>
              <a:rPr lang="ru-KZ" sz="1300" dirty="0" err="1"/>
              <a:t>still</a:t>
            </a:r>
            <a:r>
              <a:rPr lang="ru-KZ" sz="1300" dirty="0"/>
              <a:t> </a:t>
            </a:r>
            <a:r>
              <a:rPr lang="ru-KZ" sz="1300" dirty="0" err="1"/>
              <a:t>missed</a:t>
            </a:r>
            <a:r>
              <a:rPr lang="ru-KZ" sz="1300" dirty="0"/>
              <a:t> </a:t>
            </a:r>
            <a:r>
              <a:rPr lang="ru-KZ" sz="1300" dirty="0" err="1"/>
              <a:t>some</a:t>
            </a:r>
            <a:r>
              <a:rPr lang="ru-KZ" sz="1300" dirty="0"/>
              <a:t> </a:t>
            </a:r>
            <a:r>
              <a:rPr lang="ru-KZ" sz="1300" dirty="0" err="1"/>
              <a:t>toxic</a:t>
            </a:r>
            <a:r>
              <a:rPr lang="ru-KZ" sz="1300" dirty="0"/>
              <a:t> </a:t>
            </a:r>
            <a:r>
              <a:rPr lang="ru-KZ" sz="1300" dirty="0" err="1"/>
              <a:t>comments</a:t>
            </a:r>
            <a:r>
              <a:rPr lang="ru-KZ" sz="1300" dirty="0"/>
              <a:t>.</a:t>
            </a:r>
          </a:p>
          <a:p>
            <a:endParaRPr lang="ru-KZ" sz="1300" dirty="0"/>
          </a:p>
          <a:p>
            <a:r>
              <a:rPr lang="ru-KZ" sz="1300" dirty="0"/>
              <a:t>Final </a:t>
            </a:r>
            <a:r>
              <a:rPr lang="ru-KZ" sz="1300" dirty="0" err="1"/>
              <a:t>result</a:t>
            </a:r>
            <a:r>
              <a:rPr lang="ru-KZ" sz="1300" dirty="0"/>
              <a:t>: </a:t>
            </a:r>
            <a:r>
              <a:rPr lang="ru-KZ" sz="1300" dirty="0" err="1"/>
              <a:t>class</a:t>
            </a:r>
            <a:r>
              <a:rPr lang="ru-KZ" sz="1300" dirty="0"/>
              <a:t> </a:t>
            </a:r>
            <a:r>
              <a:rPr lang="ru-KZ" sz="1300" dirty="0" err="1"/>
              <a:t>imbalance</a:t>
            </a:r>
            <a:r>
              <a:rPr lang="ru-KZ" sz="1300" dirty="0"/>
              <a:t> </a:t>
            </a:r>
            <a:r>
              <a:rPr lang="ru-KZ" sz="1300" dirty="0" err="1"/>
              <a:t>remained</a:t>
            </a:r>
            <a:r>
              <a:rPr lang="ru-KZ" sz="1300" dirty="0"/>
              <a:t> </a:t>
            </a:r>
            <a:r>
              <a:rPr lang="ru-KZ" sz="1300" dirty="0" err="1"/>
              <a:t>the</a:t>
            </a:r>
            <a:r>
              <a:rPr lang="ru-KZ" sz="1300" dirty="0"/>
              <a:t> </a:t>
            </a:r>
            <a:r>
              <a:rPr lang="ru-KZ" sz="1300" dirty="0" err="1"/>
              <a:t>main</a:t>
            </a:r>
            <a:r>
              <a:rPr lang="ru-KZ" sz="1300" dirty="0"/>
              <a:t> </a:t>
            </a:r>
            <a:r>
              <a:rPr lang="ru-KZ" sz="1300" dirty="0" err="1"/>
              <a:t>limitation</a:t>
            </a:r>
            <a:r>
              <a:rPr lang="ru-KZ" sz="1300" dirty="0"/>
              <a:t> </a:t>
            </a:r>
            <a:r>
              <a:rPr lang="ru-KZ" sz="1300" dirty="0" err="1"/>
              <a:t>of</a:t>
            </a:r>
            <a:r>
              <a:rPr lang="ru-KZ" sz="1300" dirty="0"/>
              <a:t> </a:t>
            </a:r>
            <a:r>
              <a:rPr lang="ru-KZ" sz="1300" dirty="0" err="1"/>
              <a:t>the</a:t>
            </a:r>
            <a:r>
              <a:rPr lang="ru-KZ" sz="1300" dirty="0"/>
              <a:t> </a:t>
            </a:r>
            <a:r>
              <a:rPr lang="ru-KZ" sz="1300" dirty="0" err="1"/>
              <a:t>project</a:t>
            </a:r>
            <a:r>
              <a:rPr lang="ru-KZ" sz="13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Prototype — Streamlit Application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 simple editable interface for testing toxic comment predictions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06840" y="365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5160" y="49270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the app does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5160" y="4992624"/>
            <a:ext cx="493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E293B"/>
                </a:solidFill>
              </a:rPr>
              <a:t>User enters a comment</a:t>
            </a:r>
            <a:endParaRPr lang="en-US" sz="1500" dirty="0"/>
          </a:p>
          <a:p>
            <a:r>
              <a:rPr lang="en-US" sz="1500" dirty="0">
                <a:solidFill>
                  <a:srgbClr val="1E293B"/>
                </a:solidFill>
              </a:rPr>
              <a:t>Text is cleaned and encoded</a:t>
            </a:r>
            <a:endParaRPr lang="en-US" sz="1500" dirty="0"/>
          </a:p>
          <a:p>
            <a:r>
              <a:rPr lang="en-US" sz="1500" dirty="0">
                <a:solidFill>
                  <a:srgbClr val="1E293B"/>
                </a:solidFill>
              </a:rPr>
              <a:t>Trained model predicts probabilities</a:t>
            </a:r>
            <a:endParaRPr lang="en-US" sz="1500" dirty="0"/>
          </a:p>
          <a:p>
            <a:r>
              <a:rPr lang="en-US" sz="1500" dirty="0">
                <a:solidFill>
                  <a:srgbClr val="1E293B"/>
                </a:solidFill>
              </a:rPr>
              <a:t>App shows toxic categories and scores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89320" y="4005072"/>
            <a:ext cx="4754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989320" y="49270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Final conclusion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35040" y="5447791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The project covers the full ML pipeline from data analysis to a working prototype. Future improvements: better class balancing, longer training, BERT model, and separate thresholds for each label.</a:t>
            </a:r>
            <a:endParaRPr lang="en-US" sz="15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7481314-7D87-291C-4826-3113B9722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7364"/>
            <a:ext cx="8966200" cy="3831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710</Words>
  <Application>Microsoft Office PowerPoint</Application>
  <PresentationFormat>Широкоэкранный</PresentationFormat>
  <Paragraphs>115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Cyberbullying Detection Project</dc:title>
  <dc:subject>Toxic Comment Classification</dc:subject>
  <dc:creator>OpenAI</dc:creator>
  <cp:lastModifiedBy>Алмат Нагашыбай</cp:lastModifiedBy>
  <cp:revision>2</cp:revision>
  <dcterms:created xsi:type="dcterms:W3CDTF">2026-05-21T19:30:51Z</dcterms:created>
  <dcterms:modified xsi:type="dcterms:W3CDTF">2026-05-21T22:22:39Z</dcterms:modified>
</cp:coreProperties>
</file>